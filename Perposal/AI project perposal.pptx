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7556500" cy="10693400"/>
  <p:notesSz cx="6858000" cy="9144000"/>
  <p:embeddedFontLst>
    <p:embeddedFont>
      <p:font typeface="TT Norms Bold" charset="1" panose="02000803030000020004"/>
      <p:regular r:id="rId14"/>
    </p:embeddedFont>
    <p:embeddedFont>
      <p:font typeface="TT Norms" charset="1" panose="02000503030000020003"/>
      <p:regular r:id="rId15"/>
    </p:embeddedFont>
    <p:embeddedFont>
      <p:font typeface="Arimo" charset="1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8716" y="4479420"/>
            <a:ext cx="5426497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 spc="448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AI PROJECTS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21431" y="5375405"/>
            <a:ext cx="431713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spc="256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PROPOSAL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2699999">
            <a:off x="756000" y="7668000"/>
            <a:ext cx="6048000" cy="6048000"/>
          </a:xfrm>
          <a:custGeom>
            <a:avLst/>
            <a:gdLst/>
            <a:ahLst/>
            <a:cxnLst/>
            <a:rect r="r" b="b" t="t" l="l"/>
            <a:pathLst>
              <a:path h="6048000" w="6048000">
                <a:moveTo>
                  <a:pt x="0" y="6048000"/>
                </a:moveTo>
                <a:lnTo>
                  <a:pt x="6048000" y="6048000"/>
                </a:lnTo>
                <a:lnTo>
                  <a:pt x="6048000" y="0"/>
                </a:lnTo>
                <a:lnTo>
                  <a:pt x="0" y="0"/>
                </a:lnTo>
                <a:lnTo>
                  <a:pt x="0" y="60480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99999">
            <a:off x="756000" y="-3024000"/>
            <a:ext cx="6048000" cy="6048000"/>
          </a:xfrm>
          <a:custGeom>
            <a:avLst/>
            <a:gdLst/>
            <a:ahLst/>
            <a:cxnLst/>
            <a:rect r="r" b="b" t="t" l="l"/>
            <a:pathLst>
              <a:path h="6048000" w="6048000">
                <a:moveTo>
                  <a:pt x="0" y="0"/>
                </a:moveTo>
                <a:lnTo>
                  <a:pt x="6048000" y="0"/>
                </a:lnTo>
                <a:lnTo>
                  <a:pt x="6048000" y="6048000"/>
                </a:lnTo>
                <a:lnTo>
                  <a:pt x="0" y="604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21431" y="717900"/>
            <a:ext cx="43171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14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CHECKERS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31" y="9629295"/>
            <a:ext cx="43171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spc="14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699999">
            <a:off x="756000" y="7668000"/>
            <a:ext cx="6048000" cy="6048000"/>
          </a:xfrm>
          <a:custGeom>
            <a:avLst/>
            <a:gdLst/>
            <a:ahLst/>
            <a:cxnLst/>
            <a:rect r="r" b="b" t="t" l="l"/>
            <a:pathLst>
              <a:path h="6048000" w="6048000">
                <a:moveTo>
                  <a:pt x="0" y="6048000"/>
                </a:moveTo>
                <a:lnTo>
                  <a:pt x="6048000" y="6048000"/>
                </a:lnTo>
                <a:lnTo>
                  <a:pt x="6048000" y="0"/>
                </a:lnTo>
                <a:lnTo>
                  <a:pt x="0" y="0"/>
                </a:lnTo>
                <a:lnTo>
                  <a:pt x="0" y="60480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6000" y="1399800"/>
            <a:ext cx="465018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TEAM MEMBERS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6000" y="2761150"/>
            <a:ext cx="5201621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Moataz Ibrahim Al-Sayed Saleh                     8        </a:t>
            </a:r>
          </a:p>
          <a:p>
            <a:pPr algn="l">
              <a:lnSpc>
                <a:spcPts val="2520"/>
              </a:lnSpc>
            </a:pP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Moataz Mohamed Abd-Elaziz Tawfik          8   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86862" y="9629295"/>
            <a:ext cx="43171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spc="14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CHECKER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99999">
            <a:off x="756000" y="-3024000"/>
            <a:ext cx="6048000" cy="6048000"/>
          </a:xfrm>
          <a:custGeom>
            <a:avLst/>
            <a:gdLst/>
            <a:ahLst/>
            <a:cxnLst/>
            <a:rect r="r" b="b" t="t" l="l"/>
            <a:pathLst>
              <a:path h="6048000" w="6048000">
                <a:moveTo>
                  <a:pt x="0" y="0"/>
                </a:moveTo>
                <a:lnTo>
                  <a:pt x="6048000" y="0"/>
                </a:lnTo>
                <a:lnTo>
                  <a:pt x="6048000" y="6048000"/>
                </a:lnTo>
                <a:lnTo>
                  <a:pt x="0" y="604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6000" y="1399800"/>
            <a:ext cx="452941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ABOUT PROJECT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86862" y="9629295"/>
            <a:ext cx="43171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spc="14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CHECKERS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6000" y="2761150"/>
            <a:ext cx="5167815" cy="5415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9996" indent="-219998" lvl="1">
              <a:lnSpc>
                <a:spcPts val="2853"/>
              </a:lnSpc>
              <a:buFont typeface="Arial"/>
              <a:buChar char="•"/>
            </a:pPr>
            <a:r>
              <a:rPr lang="en-US" b="true" sz="2037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Concept</a:t>
            </a:r>
            <a:r>
              <a:rPr lang="en-US" sz="203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: Developing an intelligent agent capable of playing Checkers against a human player using pure classical search algorithms.</a:t>
            </a:r>
          </a:p>
          <a:p>
            <a:pPr algn="l">
              <a:lnSpc>
                <a:spcPts val="2853"/>
              </a:lnSpc>
            </a:pPr>
          </a:p>
          <a:p>
            <a:pPr algn="l" marL="439996" indent="-219998" lvl="1">
              <a:lnSpc>
                <a:spcPts val="2853"/>
              </a:lnSpc>
              <a:buFont typeface="Arial"/>
              <a:buChar char="•"/>
            </a:pPr>
            <a:r>
              <a:rPr lang="en-US" b="true" sz="2037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The Challenge</a:t>
            </a:r>
            <a:r>
              <a:rPr lang="en-US" sz="203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: Navigating a massive game tree (Search Space) to make optimal, real-time decisions.</a:t>
            </a:r>
          </a:p>
          <a:p>
            <a:pPr algn="l">
              <a:lnSpc>
                <a:spcPts val="2853"/>
              </a:lnSpc>
            </a:pPr>
          </a:p>
          <a:p>
            <a:pPr algn="l" marL="439996" indent="-219998" lvl="1">
              <a:lnSpc>
                <a:spcPts val="2853"/>
              </a:lnSpc>
              <a:buFont typeface="Arial"/>
              <a:buChar char="•"/>
            </a:pPr>
            <a:r>
              <a:rPr lang="en-US" b="true" sz="2037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Main Goal</a:t>
            </a:r>
            <a:r>
              <a:rPr lang="en-US" sz="203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: Applying Adversarial Search and Game Theory principles to build an agent that maximizes its winning chances while minimizing the opponent's advantage.</a:t>
            </a:r>
          </a:p>
          <a:p>
            <a:pPr algn="l">
              <a:lnSpc>
                <a:spcPts val="285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699999">
            <a:off x="756000" y="7668000"/>
            <a:ext cx="6048000" cy="6048000"/>
          </a:xfrm>
          <a:custGeom>
            <a:avLst/>
            <a:gdLst/>
            <a:ahLst/>
            <a:cxnLst/>
            <a:rect r="r" b="b" t="t" l="l"/>
            <a:pathLst>
              <a:path h="6048000" w="6048000">
                <a:moveTo>
                  <a:pt x="0" y="6048000"/>
                </a:moveTo>
                <a:lnTo>
                  <a:pt x="6048000" y="6048000"/>
                </a:lnTo>
                <a:lnTo>
                  <a:pt x="6048000" y="0"/>
                </a:lnTo>
                <a:lnTo>
                  <a:pt x="0" y="0"/>
                </a:lnTo>
                <a:lnTo>
                  <a:pt x="0" y="60480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86862" y="9629295"/>
            <a:ext cx="43171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spc="14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CHECKERS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6000" y="1399800"/>
            <a:ext cx="532119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RELATED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6000" y="2761150"/>
            <a:ext cx="5200590" cy="547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4852" indent="-212426" lvl="1">
              <a:lnSpc>
                <a:spcPts val="2754"/>
              </a:lnSpc>
              <a:buFont typeface="Arial"/>
              <a:buChar char="•"/>
            </a:pPr>
            <a:r>
              <a:rPr lang="en-US" b="true" sz="1967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Arthur Samuel's Program (1950s)</a:t>
            </a:r>
            <a:r>
              <a:rPr lang="en-US" sz="196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: One of the world's first successful AI programs, proving that computers can learn to play games.</a:t>
            </a:r>
          </a:p>
          <a:p>
            <a:pPr algn="l">
              <a:lnSpc>
                <a:spcPts val="2754"/>
              </a:lnSpc>
            </a:pPr>
          </a:p>
          <a:p>
            <a:pPr algn="l" marL="424852" indent="-212426" lvl="1">
              <a:lnSpc>
                <a:spcPts val="2754"/>
              </a:lnSpc>
              <a:buFont typeface="Arial"/>
              <a:buChar char="•"/>
            </a:pPr>
            <a:r>
              <a:rPr lang="en-US" b="true" sz="1967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Project Chinook (1989 - 2007)</a:t>
            </a:r>
            <a:r>
              <a:rPr lang="en-US" sz="196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: The first computer program to win the world champion title in Checkers. In 2007, it mathematically "solved" the game using deep search algorithms.</a:t>
            </a:r>
          </a:p>
          <a:p>
            <a:pPr algn="l">
              <a:lnSpc>
                <a:spcPts val="2754"/>
              </a:lnSpc>
            </a:pPr>
          </a:p>
          <a:p>
            <a:pPr algn="l" marL="424852" indent="-212426" lvl="1">
              <a:lnSpc>
                <a:spcPts val="2754"/>
              </a:lnSpc>
              <a:buFont typeface="Arial"/>
              <a:buChar char="•"/>
            </a:pPr>
            <a:r>
              <a:rPr lang="en-US" b="true" sz="1967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Deep Blue (1997)</a:t>
            </a:r>
            <a:r>
              <a:rPr lang="en-US" sz="196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: IBM's famous chess computer that defeated the world champion using the same underlying search techniques (Minimax).</a:t>
            </a:r>
          </a:p>
          <a:p>
            <a:pPr algn="l">
              <a:lnSpc>
                <a:spcPts val="275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99999">
            <a:off x="756000" y="-3024000"/>
            <a:ext cx="6048000" cy="6048000"/>
          </a:xfrm>
          <a:custGeom>
            <a:avLst/>
            <a:gdLst/>
            <a:ahLst/>
            <a:cxnLst/>
            <a:rect r="r" b="b" t="t" l="l"/>
            <a:pathLst>
              <a:path h="6048000" w="6048000">
                <a:moveTo>
                  <a:pt x="0" y="0"/>
                </a:moveTo>
                <a:lnTo>
                  <a:pt x="6048000" y="0"/>
                </a:lnTo>
                <a:lnTo>
                  <a:pt x="6048000" y="6048000"/>
                </a:lnTo>
                <a:lnTo>
                  <a:pt x="0" y="604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6000" y="1399800"/>
            <a:ext cx="452941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ALGORITHMS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6000" y="2455733"/>
            <a:ext cx="4887620" cy="631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939" indent="-217470" lvl="1">
              <a:lnSpc>
                <a:spcPts val="2820"/>
              </a:lnSpc>
              <a:buFont typeface="Arial"/>
              <a:buChar char="•"/>
            </a:pPr>
            <a:r>
              <a:rPr lang="en-US" b="true" sz="2014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Minimax Algorithm</a:t>
            </a:r>
            <a:r>
              <a:rPr lang="en-US" sz="201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: An adversarial search algorithm. The AI acts as the "Max" player (seeking the highest score), while the human is the "Min" player (seeking to minimize the AI's score).</a:t>
            </a:r>
          </a:p>
          <a:p>
            <a:pPr algn="l">
              <a:lnSpc>
                <a:spcPts val="2820"/>
              </a:lnSpc>
            </a:pPr>
          </a:p>
          <a:p>
            <a:pPr algn="l" marL="434939" indent="-217470" lvl="1">
              <a:lnSpc>
                <a:spcPts val="2820"/>
              </a:lnSpc>
              <a:buFont typeface="Arial"/>
              <a:buChar char="•"/>
            </a:pPr>
            <a:r>
              <a:rPr lang="en-US" b="true" sz="2014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Alpha-Beta Pruning</a:t>
            </a:r>
            <a:r>
              <a:rPr lang="en-US" sz="201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: A powerful optimization technique added to Minimax to "prune" (ignore) useless branches in the game tree, drastically increasing the search speed and depth.</a:t>
            </a:r>
          </a:p>
          <a:p>
            <a:pPr algn="l">
              <a:lnSpc>
                <a:spcPts val="2820"/>
              </a:lnSpc>
            </a:pPr>
          </a:p>
          <a:p>
            <a:pPr algn="l" marL="434939" indent="-217470" lvl="1">
              <a:lnSpc>
                <a:spcPts val="2820"/>
              </a:lnSpc>
              <a:buFont typeface="Arial"/>
              <a:buChar char="•"/>
            </a:pPr>
            <a:r>
              <a:rPr lang="en-US" b="true" sz="2014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Heuristic Function:</a:t>
            </a:r>
            <a:r>
              <a:rPr lang="en-US" sz="201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A mathematical formula used to evaluate the strength of a board state.</a:t>
            </a:r>
          </a:p>
          <a:p>
            <a:pPr algn="l">
              <a:lnSpc>
                <a:spcPts val="282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486862" y="9629295"/>
            <a:ext cx="43171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spc="14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CHECKERS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699999">
            <a:off x="756000" y="7668000"/>
            <a:ext cx="6048000" cy="6048000"/>
          </a:xfrm>
          <a:custGeom>
            <a:avLst/>
            <a:gdLst/>
            <a:ahLst/>
            <a:cxnLst/>
            <a:rect r="r" b="b" t="t" l="l"/>
            <a:pathLst>
              <a:path h="6048000" w="6048000">
                <a:moveTo>
                  <a:pt x="0" y="6048000"/>
                </a:moveTo>
                <a:lnTo>
                  <a:pt x="6048000" y="6048000"/>
                </a:lnTo>
                <a:lnTo>
                  <a:pt x="6048000" y="0"/>
                </a:lnTo>
                <a:lnTo>
                  <a:pt x="0" y="0"/>
                </a:lnTo>
                <a:lnTo>
                  <a:pt x="0" y="60480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116000" y="2933480"/>
          <a:ext cx="5118649" cy="5819411"/>
        </p:xfrm>
        <a:graphic>
          <a:graphicData uri="http://schemas.openxmlformats.org/drawingml/2006/table">
            <a:tbl>
              <a:tblPr/>
              <a:tblGrid>
                <a:gridCol w="1729585"/>
                <a:gridCol w="3389064"/>
              </a:tblGrid>
              <a:tr h="14548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FFFFFF"/>
                          </a:solidFill>
                          <a:latin typeface="TT Norms Bold"/>
                          <a:ea typeface="TT Norms Bold"/>
                          <a:cs typeface="TT Norms Bold"/>
                          <a:sym typeface="TT Norms Bold"/>
                        </a:rPr>
                        <a:t>P (Performance)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TT Norms"/>
                          <a:ea typeface="TT Norms"/>
                          <a:cs typeface="TT Norms"/>
                          <a:sym typeface="TT Norms"/>
                        </a:rPr>
                        <a:t>Winning the game, capturing opponent pieces, protecting own pieces, and promoting pieces to Kings.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48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FFFFFF"/>
                          </a:solidFill>
                          <a:latin typeface="TT Norms Bold"/>
                          <a:ea typeface="TT Norms Bold"/>
                          <a:cs typeface="TT Norms Bold"/>
                          <a:sym typeface="TT Norms Bold"/>
                        </a:rPr>
                        <a:t>E (Environment)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TT Norms"/>
                          <a:ea typeface="TT Norms"/>
                          <a:cs typeface="TT Norms"/>
                          <a:sym typeface="TT Norms"/>
                        </a:rPr>
                        <a:t>An 8x8 virtual board, game rules, and the human opponent.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48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FFFFFF"/>
                          </a:solidFill>
                          <a:latin typeface="TT Norms Bold"/>
                          <a:ea typeface="TT Norms Bold"/>
                          <a:cs typeface="TT Norms Bold"/>
                          <a:sym typeface="TT Norms Bold"/>
                        </a:rPr>
                        <a:t>A (Actuators)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TT Norms"/>
                          <a:ea typeface="TT Norms"/>
                          <a:cs typeface="TT Norms"/>
                          <a:sym typeface="TT Norms"/>
                        </a:rPr>
                        <a:t>Updating the board state internally and moving pieces on the Graphical User Interface (GUI).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48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FFFFFF"/>
                          </a:solidFill>
                          <a:latin typeface="TT Norms Bold"/>
                          <a:ea typeface="TT Norms Bold"/>
                          <a:cs typeface="TT Norms Bold"/>
                          <a:sym typeface="TT Norms Bold"/>
                        </a:rPr>
                        <a:t>S (Sensors)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TT Norms"/>
                          <a:ea typeface="TT Norms"/>
                          <a:cs typeface="TT Norms"/>
                          <a:sym typeface="TT Norms"/>
                        </a:rPr>
                        <a:t>Receiving mouse click coordinates from the human player and reading the current 2D board array.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486862" y="9629295"/>
            <a:ext cx="43171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spc="14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CHECKERS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6000" y="1399800"/>
            <a:ext cx="582427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PEAS FORMULATION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2699999">
            <a:off x="756000" y="7668000"/>
            <a:ext cx="6048000" cy="6048000"/>
          </a:xfrm>
          <a:custGeom>
            <a:avLst/>
            <a:gdLst/>
            <a:ahLst/>
            <a:cxnLst/>
            <a:rect r="r" b="b" t="t" l="l"/>
            <a:pathLst>
              <a:path h="6048000" w="6048000">
                <a:moveTo>
                  <a:pt x="0" y="6048000"/>
                </a:moveTo>
                <a:lnTo>
                  <a:pt x="6048000" y="6048000"/>
                </a:lnTo>
                <a:lnTo>
                  <a:pt x="6048000" y="0"/>
                </a:lnTo>
                <a:lnTo>
                  <a:pt x="0" y="0"/>
                </a:lnTo>
                <a:lnTo>
                  <a:pt x="0" y="60480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116000" y="2204799"/>
          <a:ext cx="5674318" cy="7049201"/>
        </p:xfrm>
        <a:graphic>
          <a:graphicData uri="http://schemas.openxmlformats.org/drawingml/2006/table">
            <a:tbl>
              <a:tblPr/>
              <a:tblGrid>
                <a:gridCol w="1572626"/>
                <a:gridCol w="1689571"/>
                <a:gridCol w="2412121"/>
              </a:tblGrid>
              <a:tr h="5825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FFFFFF"/>
                          </a:solidFill>
                          <a:latin typeface="TT Norms Bold"/>
                          <a:ea typeface="TT Norms Bold"/>
                          <a:cs typeface="TT Norms Bold"/>
                          <a:sym typeface="TT Norms Bold"/>
                        </a:rPr>
                        <a:t>Property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FFFFFF"/>
                          </a:solidFill>
                          <a:latin typeface="TT Norms Bold"/>
                          <a:ea typeface="TT Norms Bold"/>
                          <a:cs typeface="TT Norms Bold"/>
                          <a:sym typeface="TT Norms Bold"/>
                        </a:rPr>
                        <a:t>Classification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FFFFFF"/>
                          </a:solidFill>
                          <a:latin typeface="TT Norms Bold"/>
                          <a:ea typeface="TT Norms Bold"/>
                          <a:cs typeface="TT Norms Bold"/>
                          <a:sym typeface="TT Norms Bold"/>
                        </a:rPr>
                        <a:t>Justification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96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FFFFFF"/>
                          </a:solidFill>
                          <a:latin typeface="TT Norms Bold"/>
                          <a:ea typeface="TT Norms Bold"/>
                          <a:cs typeface="TT Norms Bold"/>
                          <a:sym typeface="TT Norms Bold"/>
                        </a:rPr>
                        <a:t>Observable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TT Norms"/>
                          <a:ea typeface="TT Norms"/>
                          <a:cs typeface="TT Norms"/>
                          <a:sym typeface="TT Norms"/>
                        </a:rPr>
                        <a:t>Fully Observable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TT Norms"/>
                          <a:ea typeface="TT Norms"/>
                          <a:cs typeface="TT Norms"/>
                          <a:sym typeface="TT Norms"/>
                        </a:rPr>
                        <a:t>The agent can see the entire board and all pieces at all times.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57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FFFFFF"/>
                          </a:solidFill>
                          <a:latin typeface="TT Norms Bold"/>
                          <a:ea typeface="TT Norms Bold"/>
                          <a:cs typeface="TT Norms Bold"/>
                          <a:sym typeface="TT Norms Bold"/>
                        </a:rPr>
                        <a:t>Deterministic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Det</a:t>
                      </a:r>
                      <a:r>
                        <a:rPr lang="en-US" sz="12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erministic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TT Norms"/>
                          <a:ea typeface="TT Norms"/>
                          <a:cs typeface="TT Norms"/>
                          <a:sym typeface="TT Norms"/>
                        </a:rPr>
                        <a:t>Every move has a strict, predictable outcome (No dice/luck involved).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57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FFFFFF"/>
                          </a:solidFill>
                          <a:latin typeface="TT Norms Bold"/>
                          <a:ea typeface="TT Norms Bold"/>
                          <a:cs typeface="TT Norms Bold"/>
                          <a:sym typeface="TT Norms Bold"/>
                        </a:rPr>
                        <a:t>Episodic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</a:t>
                      </a:r>
                      <a:r>
                        <a:rPr lang="en-US" sz="12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equential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Every</a:t>
                      </a:r>
                      <a:r>
                        <a:rPr lang="en-US" sz="12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current move directly impacts all future moves and the final outcome.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77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FFFFFF"/>
                          </a:solidFill>
                          <a:latin typeface="TT Norms Bold"/>
                          <a:ea typeface="TT Norms Bold"/>
                          <a:cs typeface="TT Norms Bold"/>
                          <a:sym typeface="TT Norms Bold"/>
                        </a:rPr>
                        <a:t>Static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TT Norms"/>
                          <a:ea typeface="TT Norms"/>
                          <a:cs typeface="TT Norms"/>
                          <a:sym typeface="TT Norms"/>
                        </a:rPr>
                        <a:t>Static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The</a:t>
                      </a:r>
                      <a:r>
                        <a:rPr lang="en-US" sz="12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board state does not change while the agent is "thinking".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77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FFFFFF"/>
                          </a:solidFill>
                          <a:latin typeface="TT Norms Bold"/>
                          <a:ea typeface="TT Norms Bold"/>
                          <a:cs typeface="TT Norms Bold"/>
                          <a:sym typeface="TT Norms Bold"/>
                        </a:rPr>
                        <a:t>Agent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TT Norms"/>
                          <a:ea typeface="TT Norms"/>
                          <a:cs typeface="TT Norms"/>
                          <a:sym typeface="TT Norms"/>
                        </a:rPr>
                        <a:t>Multi-agent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  <a:defRPr/>
                      </a:pPr>
                      <a:r>
                        <a:rPr lang="en-US" sz="12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Two</a:t>
                      </a:r>
                      <a:r>
                        <a:rPr lang="en-US" sz="1299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agents (AI vs. Human) competing with entirely opposite goals (Adversarial).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486862" y="9629295"/>
            <a:ext cx="43171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spc="14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CHECKERS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6000" y="1399800"/>
            <a:ext cx="452941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ODESA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99999">
            <a:off x="756000" y="-3024000"/>
            <a:ext cx="6048000" cy="6048000"/>
          </a:xfrm>
          <a:custGeom>
            <a:avLst/>
            <a:gdLst/>
            <a:ahLst/>
            <a:cxnLst/>
            <a:rect r="r" b="b" t="t" l="l"/>
            <a:pathLst>
              <a:path h="6048000" w="6048000">
                <a:moveTo>
                  <a:pt x="0" y="0"/>
                </a:moveTo>
                <a:lnTo>
                  <a:pt x="6048000" y="0"/>
                </a:lnTo>
                <a:lnTo>
                  <a:pt x="6048000" y="6048000"/>
                </a:lnTo>
                <a:lnTo>
                  <a:pt x="0" y="604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6000" y="1399800"/>
            <a:ext cx="452941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AGENT TYPE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6000" y="2488486"/>
            <a:ext cx="5085686" cy="665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9845" indent="-194922" lvl="1">
              <a:lnSpc>
                <a:spcPts val="2527"/>
              </a:lnSpc>
              <a:buFont typeface="Arial"/>
              <a:buChar char="•"/>
            </a:pPr>
            <a:r>
              <a:rPr lang="en-US" b="true" sz="1805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Classification: </a:t>
            </a:r>
            <a:r>
              <a:rPr lang="en-US" sz="180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Utility Based Agent operating in an Adversarial Multi-Agent environment.</a:t>
            </a:r>
          </a:p>
          <a:p>
            <a:pPr algn="l">
              <a:lnSpc>
                <a:spcPts val="2527"/>
              </a:lnSpc>
            </a:pPr>
          </a:p>
          <a:p>
            <a:pPr algn="l">
              <a:lnSpc>
                <a:spcPts val="1353"/>
              </a:lnSpc>
            </a:pPr>
          </a:p>
          <a:p>
            <a:pPr algn="l" marL="389845" indent="-194922" lvl="1">
              <a:lnSpc>
                <a:spcPts val="2527"/>
              </a:lnSpc>
              <a:buFont typeface="Arial"/>
              <a:buChar char="•"/>
            </a:pPr>
            <a:r>
              <a:rPr lang="en-US" b="true" sz="1805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Justification: </a:t>
            </a:r>
            <a:r>
              <a:rPr lang="en-US" sz="180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Why not Simple Reflex? A simple reflex agent only acts based on the current visible state without looking ahead. Our agent uses a "Game Tree" to predict future states.</a:t>
            </a:r>
          </a:p>
          <a:p>
            <a:pPr algn="l" marL="348246" indent="-174123" lvl="1">
              <a:lnSpc>
                <a:spcPts val="2258"/>
              </a:lnSpc>
              <a:buFont typeface="Arial"/>
              <a:buChar char="•"/>
            </a:pPr>
            <a:r>
              <a:rPr lang="en-US" sz="1612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 </a:t>
            </a:r>
            <a:r>
              <a:rPr lang="en-US" sz="1612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Why not Goal-Based? While the ultimate goal is winning, the search space in Checkers is too massive to search all the way to the final "Goal" state in real-time.</a:t>
            </a:r>
          </a:p>
          <a:p>
            <a:pPr algn="l">
              <a:lnSpc>
                <a:spcPts val="2258"/>
              </a:lnSpc>
            </a:pPr>
          </a:p>
          <a:p>
            <a:pPr algn="l">
              <a:lnSpc>
                <a:spcPts val="1353"/>
              </a:lnSpc>
            </a:pPr>
          </a:p>
          <a:p>
            <a:pPr algn="l" marL="389845" indent="-194922" lvl="1">
              <a:lnSpc>
                <a:spcPts val="2527"/>
              </a:lnSpc>
              <a:buFont typeface="Arial"/>
              <a:buChar char="•"/>
            </a:pPr>
            <a:r>
              <a:rPr lang="en-US" b="true" sz="1805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Rational Behavior :</a:t>
            </a:r>
            <a:r>
              <a:rPr lang="en-US" sz="180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 The agent acts rationally by always choosing the branch that maximizes its expected utility, fully aware that the human opponent will actively try to minimize this exact same score.</a:t>
            </a:r>
          </a:p>
          <a:p>
            <a:pPr algn="l">
              <a:lnSpc>
                <a:spcPts val="2258"/>
              </a:lnSpc>
            </a:pPr>
          </a:p>
          <a:p>
            <a:pPr algn="l">
              <a:lnSpc>
                <a:spcPts val="2258"/>
              </a:lnSpc>
            </a:pPr>
          </a:p>
          <a:p>
            <a:pPr algn="l">
              <a:lnSpc>
                <a:spcPts val="225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486862" y="9629295"/>
            <a:ext cx="43171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 spc="144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CHECKERS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DAHDmg9Gxwo</dc:identifier>
  <dcterms:modified xsi:type="dcterms:W3CDTF">2011-08-01T06:04:30Z</dcterms:modified>
  <cp:revision>1</cp:revision>
  <dc:title>Dark Modern Company Business Proposal A4</dc:title>
</cp:coreProperties>
</file>